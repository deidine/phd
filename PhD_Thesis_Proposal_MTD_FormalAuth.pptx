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1A5C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201168"/>
            <a:ext cx="8778240" cy="64008"/>
          </a:xfrm>
          <a:prstGeom prst="rect">
            <a:avLst/>
          </a:prstGeom>
          <a:solidFill>
            <a:srgbClr val="00B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9AABB"/>
                </a:solidFill>
              </a:rPr>
              <a:t>PhD THESIS PROPOSAL  ·  CYBERSECURITY &amp; DISTRIBUTED SYSTEMS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22960"/>
            <a:ext cx="83210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Moving Target Defense
&amp; Formal Authorization Verification
for Securing Distributed Microservices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32461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00BFA5"/>
                </a:solidFill>
              </a:rPr>
              <a:t>No Machine Learning  ·  Algorithmic Security  ·  Formal Methods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3977639"/>
            <a:ext cx="5029200" cy="54864"/>
          </a:xfrm>
          <a:prstGeom prst="rect">
            <a:avLst/>
          </a:prstGeom>
          <a:solidFill>
            <a:srgbClr val="D83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411480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9AABB"/>
                </a:solidFill>
              </a:rPr>
              <a:t>Deidine Cheigeur  ·  June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45262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9AABB"/>
                </a:solidFill>
              </a:rPr>
              <a:t>Field: Cybersecurity + Distributed Systems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D83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7432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097280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D0ECF8"/>
                </a:solidFill>
              </a:rPr>
              <a:t>Cloud microservices are distributed and dynamic — existing security tools are static and centralised.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691640"/>
            <a:ext cx="1965960" cy="594360"/>
          </a:xfrm>
          <a:prstGeom prst="rect">
            <a:avLst/>
          </a:prstGeom>
          <a:solidFill>
            <a:srgbClr val="1A5C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737360"/>
            <a:ext cx="187451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Reconnaissance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377440"/>
            <a:ext cx="1828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D0ECF8"/>
                </a:solidFill>
              </a:rPr>
              <a:t>Attacker scans static
service IPs &amp; ports
to map the system</a:t>
            </a:r>
          </a:p>
        </p:txBody>
      </p:sp>
      <p:sp>
        <p:nvSpPr>
          <p:cNvPr id="8" name="Rectangle 7"/>
          <p:cNvSpPr/>
          <p:nvPr/>
        </p:nvSpPr>
        <p:spPr>
          <a:xfrm>
            <a:off x="2560320" y="1691640"/>
            <a:ext cx="1965960" cy="594360"/>
          </a:xfrm>
          <a:prstGeom prst="rect">
            <a:avLst/>
          </a:prstGeom>
          <a:solidFill>
            <a:srgbClr val="6A0D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06039" y="1737360"/>
            <a:ext cx="187451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Lateral
Movement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51760" y="2377440"/>
            <a:ext cx="1828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D0ECF8"/>
                </a:solidFill>
              </a:rPr>
              <a:t>Compromised service
pivots to others using
stolen credentials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0" y="1691640"/>
            <a:ext cx="1965960" cy="594360"/>
          </a:xfrm>
          <a:prstGeom prst="rect">
            <a:avLst/>
          </a:prstGeom>
          <a:solidFill>
            <a:srgbClr val="D83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00600" y="1737360"/>
            <a:ext cx="187451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Privilege
Escalation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0" y="2377440"/>
            <a:ext cx="1828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D0ECF8"/>
                </a:solidFill>
              </a:rPr>
              <a:t>Attacker gains
unauthorised permissions
through policy flaws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49440" y="1691640"/>
            <a:ext cx="1965960" cy="594360"/>
          </a:xfrm>
          <a:prstGeom prst="rect">
            <a:avLst/>
          </a:prstGeom>
          <a:solidFill>
            <a:srgbClr val="227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95159" y="1737360"/>
            <a:ext cx="187451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DDoS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0879" y="2377440"/>
            <a:ext cx="1828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D0ECF8"/>
                </a:solidFill>
              </a:rPr>
              <a:t>Flooding one service
causes cascade failure
across the mesh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3794760"/>
            <a:ext cx="8412480" cy="64008"/>
          </a:xfrm>
          <a:prstGeom prst="rect">
            <a:avLst/>
          </a:prstGeom>
          <a:solidFill>
            <a:srgbClr val="00B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" y="3931920"/>
            <a:ext cx="84124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0BFA5"/>
                </a:solidFill>
              </a:rPr>
              <a:t>Why current defences fail:</a:t>
            </a:r>
          </a:p>
          <a:p>
            <a:r>
              <a:rPr sz="1300">
                <a:solidFill>
                  <a:srgbClr val="D0ECF8"/>
                </a:solidFill>
              </a:rPr>
              <a:t>▸  Static endpoints make reconnaissance trivial — attacker maps the system once</a:t>
            </a:r>
          </a:p>
          <a:p>
            <a:r>
              <a:rPr sz="1300">
                <a:solidFill>
                  <a:srgbClr val="D0ECF8"/>
                </a:solidFill>
              </a:rPr>
              <a:t>▸  Authorization policies are never formally checked for logical flaws</a:t>
            </a:r>
          </a:p>
          <a:p>
            <a:r>
              <a:rPr sz="1300">
                <a:solidFill>
                  <a:srgbClr val="D0ECF8"/>
                </a:solidFill>
              </a:rPr>
              <a:t>▸  All current detection tools require ML — complex, opaque, hard to deploy in constrained environments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5C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>
                <a:solidFill>
                  <a:srgbClr val="FFFFFF"/>
                </a:solidFill>
              </a:rPr>
              <a:t>THESIS OVERVIEW  —  3 Contributions, 0 Machine Learning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143000"/>
            <a:ext cx="2743200" cy="594360"/>
          </a:xfrm>
          <a:prstGeom prst="rect">
            <a:avLst/>
          </a:prstGeom>
          <a:solidFill>
            <a:srgbClr val="1A5C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C1 — Moving Target Defense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74519"/>
            <a:ext cx="26060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0ECF8"/>
                </a:solidFill>
              </a:rPr>
              <a:t>Kubernetes controller that
periodically rotates service
endpoints, IPs &amp; API paths.
Attacker maps → system changes.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3291840" y="1143000"/>
            <a:ext cx="2743200" cy="594360"/>
          </a:xfrm>
          <a:prstGeom prst="rect">
            <a:avLst/>
          </a:prstGeom>
          <a:solidFill>
            <a:srgbClr val="00B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383280" y="118872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C2 — Statistical Detection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3280" y="1874519"/>
            <a:ext cx="26060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0ECF8"/>
                </a:solidFill>
              </a:rPr>
              <a:t>Shannon entropy + CUSUM
control charts on authorization
logs. Pure math. No ML.
Detects DDoS &amp; privilege probing.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143000"/>
            <a:ext cx="2743200" cy="594360"/>
          </a:xfrm>
          <a:prstGeom prst="rect">
            <a:avLst/>
          </a:prstGeom>
          <a:solidFill>
            <a:srgbClr val="6A0D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0" y="118872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C3 — Formal Verification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1874519"/>
            <a:ext cx="26060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0ECF8"/>
                </a:solidFill>
              </a:rPr>
              <a:t>TLA+ model of Zanzibar/Keto
authorization graph.
Proves: no privilege escalation,
no lateral movement possible.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4343400"/>
            <a:ext cx="8412480" cy="64008"/>
          </a:xfrm>
          <a:prstGeom prst="rect">
            <a:avLst/>
          </a:prstGeom>
          <a:solidFill>
            <a:srgbClr val="D83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4480560"/>
            <a:ext cx="8412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CC55"/>
                </a:solidFill>
              </a:rPr>
              <a:t>Authorization layer: Ory Keto (open-source Google Zanzibar) — github.com/ory/keto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4983480"/>
            <a:ext cx="8412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0ECF8"/>
                </a:solidFill>
              </a:rPr>
              <a:t>Research question: Can MTD + statistical detection + formally-verified authorization prevent attacks in distributed microservices without any machine learning?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B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56032"/>
            <a:ext cx="8412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D1B2A"/>
                </a:solidFill>
              </a:rPr>
              <a:t>THE RESEARCH GAP  —  Why This Has Not Been Done Yet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97280"/>
            <a:ext cx="8412480" cy="1143000"/>
          </a:xfrm>
          <a:prstGeom prst="rect">
            <a:avLst/>
          </a:prstGeom>
          <a:solidFill>
            <a:srgbClr val="1A5C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188720"/>
            <a:ext cx="81381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"Application of Moving Target Defense to cloud-native, container-orchestrated environments remains an open research direction. No existing work integrates MTD with authorization systems or provides formal security guarantees."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194560"/>
            <a:ext cx="8138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9AABB"/>
                </a:solidFill>
              </a:rPr>
              <a:t>— Sengupta et al. (2020), IEEE Communications Surveys &amp; Tutorials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2834640"/>
            <a:ext cx="822960" cy="1234440"/>
          </a:xfrm>
          <a:prstGeom prst="rect">
            <a:avLst/>
          </a:prstGeom>
          <a:solidFill>
            <a:srgbClr val="D83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3154680"/>
            <a:ext cx="731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Gap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3017520"/>
            <a:ext cx="3337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0ECF8"/>
                </a:solidFill>
              </a:rPr>
              <a:t>No MTD system integrated with
Zanzibar/Keto authorization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4800600" y="2834640"/>
            <a:ext cx="822960" cy="1234440"/>
          </a:xfrm>
          <a:prstGeom prst="rect">
            <a:avLst/>
          </a:prstGeom>
          <a:solidFill>
            <a:srgbClr val="D83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46320" y="3154680"/>
            <a:ext cx="731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Gap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60720" y="3017520"/>
            <a:ext cx="3337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0ECF8"/>
                </a:solidFill>
              </a:rPr>
              <a:t>Zanzibar (USENIX 2019) has
never been formally verified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4343400"/>
            <a:ext cx="822960" cy="1234440"/>
          </a:xfrm>
          <a:prstGeom prst="rect">
            <a:avLst/>
          </a:prstGeom>
          <a:solidFill>
            <a:srgbClr val="D83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80" y="4663440"/>
            <a:ext cx="731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Gap 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4526280"/>
            <a:ext cx="3337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0ECF8"/>
                </a:solidFill>
              </a:rPr>
              <a:t>No statistical (non-ML) IDS
for microservices auth layer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800600" y="4343400"/>
            <a:ext cx="822960" cy="1234440"/>
          </a:xfrm>
          <a:prstGeom prst="rect">
            <a:avLst/>
          </a:prstGeom>
          <a:solidFill>
            <a:srgbClr val="D83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46320" y="4663440"/>
            <a:ext cx="731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Gap 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60720" y="4526280"/>
            <a:ext cx="3337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0ECF8"/>
                </a:solidFill>
              </a:rPr>
              <a:t>No system combines all three:
MTD + stats + formal proof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5C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7432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METHODOLOGY  —  No Machine Learning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143000"/>
            <a:ext cx="2743200" cy="685800"/>
          </a:xfrm>
          <a:prstGeom prst="rect">
            <a:avLst/>
          </a:prstGeom>
          <a:solidFill>
            <a:srgbClr val="1A5C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79" y="118872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</a:rPr>
              <a:t>MTD Engine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63240" y="1463040"/>
            <a:ext cx="18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99AABB"/>
                </a:solidFill>
              </a:rPr>
              <a:t>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920240"/>
            <a:ext cx="28346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D0ECF8"/>
                </a:solidFill>
              </a:rPr>
              <a:t>▸  Kubernetes Python controller</a:t>
            </a:r>
          </a:p>
          <a:p>
            <a:r>
              <a:rPr sz="1200">
                <a:solidFill>
                  <a:srgbClr val="D0ECF8"/>
                </a:solidFill>
              </a:rPr>
              <a:t>▸  Rotates ClusterIPs + ports every 60s</a:t>
            </a:r>
          </a:p>
          <a:p>
            <a:r>
              <a:rPr sz="1200">
                <a:solidFill>
                  <a:srgbClr val="D0ECF8"/>
                </a:solidFill>
              </a:rPr>
              <a:t>▸  Services found via Keto tuples</a:t>
            </a:r>
          </a:p>
          <a:p>
            <a:r>
              <a:rPr sz="1200">
                <a:solidFill>
                  <a:srgbClr val="D0ECF8"/>
                </a:solidFill>
              </a:rPr>
              <a:t>▸  Metric: attacker mean-time-to-exploit</a:t>
            </a:r>
          </a:p>
        </p:txBody>
      </p:sp>
      <p:sp>
        <p:nvSpPr>
          <p:cNvPr id="8" name="Rectangle 7"/>
          <p:cNvSpPr/>
          <p:nvPr/>
        </p:nvSpPr>
        <p:spPr>
          <a:xfrm>
            <a:off x="3246120" y="1143000"/>
            <a:ext cx="2743200" cy="685800"/>
          </a:xfrm>
          <a:prstGeom prst="rect">
            <a:avLst/>
          </a:prstGeom>
          <a:solidFill>
            <a:srgbClr val="00B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37560" y="118872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</a:rPr>
              <a:t>Statistical
Detector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89320" y="1463040"/>
            <a:ext cx="18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99AABB"/>
                </a:solidFill>
              </a:rPr>
              <a:t>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46120" y="1920240"/>
            <a:ext cx="28346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D0ECF8"/>
                </a:solidFill>
              </a:rPr>
              <a:t>▸  Shannon entropy on request flows</a:t>
            </a:r>
          </a:p>
          <a:p>
            <a:r>
              <a:rPr sz="1200">
                <a:solidFill>
                  <a:srgbClr val="D0ECF8"/>
                </a:solidFill>
              </a:rPr>
              <a:t>▸  CUSUM on per-service request rate</a:t>
            </a:r>
          </a:p>
          <a:p>
            <a:r>
              <a:rPr sz="1200">
                <a:solidFill>
                  <a:srgbClr val="D0ECF8"/>
                </a:solidFill>
              </a:rPr>
              <a:t>▸  Alert: entropy drop &gt; 40%</a:t>
            </a:r>
          </a:p>
          <a:p>
            <a:r>
              <a:rPr sz="1200">
                <a:solidFill>
                  <a:srgbClr val="D0ECF8"/>
                </a:solidFill>
              </a:rPr>
              <a:t>▸  No training data required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72200" y="1143000"/>
            <a:ext cx="2743200" cy="685800"/>
          </a:xfrm>
          <a:prstGeom prst="rect">
            <a:avLst/>
          </a:prstGeom>
          <a:solidFill>
            <a:srgbClr val="6A0D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63640" y="118872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</a:rPr>
              <a:t>TLA+ Formal
Verification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72200" y="1920240"/>
            <a:ext cx="28346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D0ECF8"/>
                </a:solidFill>
              </a:rPr>
              <a:t>▸  Model Keto tuple graph in TLA+</a:t>
            </a:r>
          </a:p>
          <a:p>
            <a:r>
              <a:rPr sz="1200">
                <a:solidFill>
                  <a:srgbClr val="D0ECF8"/>
                </a:solidFill>
              </a:rPr>
              <a:t>▸  Invariant 1: no privilege escalation</a:t>
            </a:r>
          </a:p>
          <a:p>
            <a:r>
              <a:rPr sz="1200">
                <a:solidFill>
                  <a:srgbClr val="D0ECF8"/>
                </a:solidFill>
              </a:rPr>
              <a:t>▸  Invariant 2: no lateral movement</a:t>
            </a:r>
          </a:p>
          <a:p>
            <a:r>
              <a:rPr sz="1200">
                <a:solidFill>
                  <a:srgbClr val="D0ECF8"/>
                </a:solidFill>
              </a:rPr>
              <a:t>▸  TLC model checker: proof or bug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5349240"/>
            <a:ext cx="8503920" cy="64008"/>
          </a:xfrm>
          <a:prstGeom prst="rect">
            <a:avLst/>
          </a:prstGeom>
          <a:solidFill>
            <a:srgbClr val="D83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0040" y="5486400"/>
            <a:ext cx="8503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9AABB"/>
                </a:solidFill>
              </a:rPr>
              <a:t>Evaluation: CIC-IDS2017 dataset  +  live Kubernetes testbed  +  TLC model checker output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B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56032"/>
            <a:ext cx="8412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D1B2A"/>
                </a:solidFill>
              </a:rPr>
              <a:t>MINI PROJECT  —  phd-mtd-zanzibar-security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43000"/>
            <a:ext cx="5212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0BFA5"/>
                </a:solidFill>
              </a:rPr>
              <a:t>Repository Structure</a:t>
            </a:r>
          </a:p>
          <a:p>
            <a:r>
              <a:rPr sz="1200">
                <a:solidFill>
                  <a:srgbClr val="D0ECF8"/>
                </a:solidFill>
              </a:rPr>
              <a:t>▸  mtd_controller/     — Kubernetes service endpoint rotation (Python)</a:t>
            </a:r>
          </a:p>
          <a:p>
            <a:r>
              <a:rPr sz="1200">
                <a:solidFill>
                  <a:srgbClr val="D0ECF8"/>
                </a:solidFill>
              </a:rPr>
              <a:t>▸  stat_detector/      — Entropy + CUSUM anomaly detector</a:t>
            </a:r>
          </a:p>
          <a:p>
            <a:r>
              <a:rPr sz="1200">
                <a:solidFill>
                  <a:srgbClr val="D0ECF8"/>
                </a:solidFill>
              </a:rPr>
              <a:t>▸  tla_specs/          — TLA+ formal models of Keto authorization</a:t>
            </a:r>
          </a:p>
          <a:p>
            <a:r>
              <a:rPr sz="1200">
                <a:solidFill>
                  <a:srgbClr val="D0ECF8"/>
                </a:solidFill>
              </a:rPr>
              <a:t>▸  keto_integration/   — Ory Keto policy definitions (OPL)</a:t>
            </a:r>
          </a:p>
          <a:p>
            <a:r>
              <a:rPr sz="1200">
                <a:solidFill>
                  <a:srgbClr val="D0ECF8"/>
                </a:solidFill>
              </a:rPr>
              <a:t>▸  evaluation/         — CIC-IDS2017 pipeline + testbed attack scripts</a:t>
            </a:r>
          </a:p>
          <a:p>
            <a:r>
              <a:rPr sz="1200">
                <a:solidFill>
                  <a:srgbClr val="D0ECF8"/>
                </a:solidFill>
              </a:rPr>
              <a:t>▸  tests/              — pytest integration tests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720" y="1143000"/>
            <a:ext cx="31089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0BFA5"/>
                </a:solidFill>
              </a:rPr>
              <a:t>Tech Stack (No ML)</a:t>
            </a:r>
          </a:p>
          <a:p>
            <a:r>
              <a:rPr sz="1200">
                <a:solidFill>
                  <a:srgbClr val="D0ECF8"/>
                </a:solidFill>
              </a:rPr>
              <a:t>▸  Python 3.11</a:t>
            </a:r>
          </a:p>
          <a:p>
            <a:r>
              <a:rPr sz="1200">
                <a:solidFill>
                  <a:srgbClr val="D0ECF8"/>
                </a:solidFill>
              </a:rPr>
              <a:t>▸  Kubernetes client (k8s Python lib)</a:t>
            </a:r>
          </a:p>
          <a:p>
            <a:r>
              <a:rPr sz="1200">
                <a:solidFill>
                  <a:srgbClr val="D0ECF8"/>
                </a:solidFill>
              </a:rPr>
              <a:t>▸  Ory Keto (authorization)</a:t>
            </a:r>
          </a:p>
          <a:p>
            <a:r>
              <a:rPr sz="1200">
                <a:solidFill>
                  <a:srgbClr val="D0ECF8"/>
                </a:solidFill>
              </a:rPr>
              <a:t>▸  numpy + scipy (entropy, CUSUM)</a:t>
            </a:r>
          </a:p>
          <a:p>
            <a:r>
              <a:rPr sz="1200">
                <a:solidFill>
                  <a:srgbClr val="D0ECF8"/>
                </a:solidFill>
              </a:rPr>
              <a:t>▸  TLA+ Toolbox / VS Code</a:t>
            </a:r>
          </a:p>
          <a:p>
            <a:r>
              <a:rPr sz="1200">
                <a:solidFill>
                  <a:srgbClr val="D0ECF8"/>
                </a:solidFill>
              </a:rPr>
              <a:t>▸  minikube + kubectl</a:t>
            </a:r>
          </a:p>
          <a:p>
            <a:r>
              <a:rPr sz="1200">
                <a:solidFill>
                  <a:srgbClr val="D0ECF8"/>
                </a:solidFill>
              </a:rPr>
              <a:t>▸  GitHub Actions CI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5577840"/>
            <a:ext cx="8412480" cy="868680"/>
          </a:xfrm>
          <a:prstGeom prst="rect">
            <a:avLst/>
          </a:prstGeom>
          <a:solidFill>
            <a:srgbClr val="1A5C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5623560"/>
            <a:ext cx="8138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Goal: MTD reduces attacker mean-time-to-exploit by &gt; 80%  ·  Statistical detector: F1 &gt; 92%  ·  TLA+ proves 2 security invariants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5C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7432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KEY REFERENCES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188720"/>
            <a:ext cx="731520" cy="1097280"/>
          </a:xfrm>
          <a:prstGeom prst="rect">
            <a:avLst/>
          </a:prstGeom>
          <a:solidFill>
            <a:srgbClr val="1A5C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84048" y="1444752"/>
            <a:ext cx="685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[BOOK]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1261872"/>
            <a:ext cx="7589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D0ECF8"/>
                </a:solidFill>
              </a:rPr>
              <a:t>Anderson, R. (2020). Security Engineering, 3rd ed. Wiley. (Free PDF)
→ Foundation: access control, formal methods, distributed systems security.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2560320"/>
            <a:ext cx="731520" cy="1097280"/>
          </a:xfrm>
          <a:prstGeom prst="rect">
            <a:avLst/>
          </a:prstGeom>
          <a:solidFill>
            <a:srgbClr val="00B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" y="2816352"/>
            <a:ext cx="685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[A1]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633472"/>
            <a:ext cx="7589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D0ECF8"/>
                </a:solidFill>
              </a:rPr>
              <a:t>Pang et al. (2019). Zanzibar: Google's Consistent, Global Authorization System. USENIX ATC.
→ The paper behind Ory Keto. Your authorization platform. Never formally verified — your gap.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3931920"/>
            <a:ext cx="731520" cy="1097280"/>
          </a:xfrm>
          <a:prstGeom prst="rect">
            <a:avLst/>
          </a:prstGeom>
          <a:solidFill>
            <a:srgbClr val="6A0D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4048" y="4187952"/>
            <a:ext cx="685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[A2]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4005072"/>
            <a:ext cx="7589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D0ECF8"/>
                </a:solidFill>
              </a:rPr>
              <a:t>Sengupta et al. (2020). A Survey of Moving Target Defenses for Network Security.
IEEE Comm. Surveys &amp; Tutorials. → Maps the MTD field; confirms cloud-native MTD is open.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5303520"/>
            <a:ext cx="731520" cy="1097280"/>
          </a:xfrm>
          <a:prstGeom prst="rect">
            <a:avLst/>
          </a:prstGeom>
          <a:solidFill>
            <a:srgbClr val="D83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4048" y="5559552"/>
            <a:ext cx="685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[A3]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5376672"/>
            <a:ext cx="7589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D0ECF8"/>
                </a:solidFill>
              </a:rPr>
              <a:t>Newcombe et al. (2015). How Amazon Web Services Uses Formal Methods. CACM 58(4).
→ Proves TLA+ finds real bugs in distributed systems. Justifies your Contribution 3.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5C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TIMELINE  —  6-Month Catchup + Year 2 Execution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143000"/>
            <a:ext cx="1965960" cy="685800"/>
          </a:xfrm>
          <a:prstGeom prst="rect">
            <a:avLst/>
          </a:prstGeom>
          <a:solidFill>
            <a:srgbClr val="1A5C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188720"/>
            <a:ext cx="187451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M1–2
Foundations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40279" y="141732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99AABB"/>
                </a:solidFill>
              </a:rPr>
              <a:t>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1920240"/>
            <a:ext cx="20116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D0ECF8"/>
                </a:solidFill>
              </a:rPr>
              <a:t>▸  Read 25 papers</a:t>
            </a:r>
          </a:p>
          <a:p>
            <a:r>
              <a:rPr sz="1200">
                <a:solidFill>
                  <a:srgbClr val="D0ECF8"/>
                </a:solidFill>
              </a:rPr>
              <a:t>▸  Literature review</a:t>
            </a:r>
          </a:p>
          <a:p>
            <a:r>
              <a:rPr sz="1200">
                <a:solidFill>
                  <a:srgbClr val="D0ECF8"/>
                </a:solidFill>
              </a:rPr>
              <a:t>▸  Thesis Ch.1 &amp; 2</a:t>
            </a:r>
          </a:p>
        </p:txBody>
      </p:sp>
      <p:sp>
        <p:nvSpPr>
          <p:cNvPr id="8" name="Rectangle 7"/>
          <p:cNvSpPr/>
          <p:nvPr/>
        </p:nvSpPr>
        <p:spPr>
          <a:xfrm>
            <a:off x="2468879" y="1143000"/>
            <a:ext cx="1965960" cy="685800"/>
          </a:xfrm>
          <a:prstGeom prst="rect">
            <a:avLst/>
          </a:prstGeom>
          <a:solidFill>
            <a:srgbClr val="00B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514599" y="1188720"/>
            <a:ext cx="187451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M3
Prototype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34840" y="141732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99AABB"/>
                </a:solidFill>
              </a:rPr>
              <a:t>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68879" y="1920240"/>
            <a:ext cx="20116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D0ECF8"/>
                </a:solidFill>
              </a:rPr>
              <a:t>▸  Build Kubernetes testbed</a:t>
            </a:r>
          </a:p>
          <a:p>
            <a:r>
              <a:rPr sz="1200">
                <a:solidFill>
                  <a:srgbClr val="D0ECF8"/>
                </a:solidFill>
              </a:rPr>
              <a:t>▸  MTD controller v1</a:t>
            </a:r>
          </a:p>
          <a:p>
            <a:r>
              <a:rPr sz="1200">
                <a:solidFill>
                  <a:srgbClr val="D0ECF8"/>
                </a:solidFill>
              </a:rPr>
              <a:t>▸  CIC-IDS2017 pipeline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663440" y="1143000"/>
            <a:ext cx="1965960" cy="685800"/>
          </a:xfrm>
          <a:prstGeom prst="rect">
            <a:avLst/>
          </a:prstGeom>
          <a:solidFill>
            <a:srgbClr val="6A0D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09159" y="1188720"/>
            <a:ext cx="187451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M4
Methodology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141732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99AABB"/>
                </a:solidFill>
              </a:rPr>
              <a:t>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1920240"/>
            <a:ext cx="20116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D0ECF8"/>
                </a:solidFill>
              </a:rPr>
              <a:t>▸  Thesis Ch. 3</a:t>
            </a:r>
          </a:p>
          <a:p>
            <a:r>
              <a:rPr sz="1200">
                <a:solidFill>
                  <a:srgbClr val="D0ECF8"/>
                </a:solidFill>
              </a:rPr>
              <a:t>▸  Statistical detector</a:t>
            </a:r>
          </a:p>
          <a:p>
            <a:r>
              <a:rPr sz="1200">
                <a:solidFill>
                  <a:srgbClr val="D0ECF8"/>
                </a:solidFill>
              </a:rPr>
              <a:t>▸  TLA+ model v1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57999" y="1143000"/>
            <a:ext cx="1965960" cy="685800"/>
          </a:xfrm>
          <a:prstGeom prst="rect">
            <a:avLst/>
          </a:prstGeom>
          <a:solidFill>
            <a:srgbClr val="D83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03719" y="1188720"/>
            <a:ext cx="187451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M5–6
Results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7999" y="1920240"/>
            <a:ext cx="20116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D0ECF8"/>
                </a:solidFill>
              </a:rPr>
              <a:t>▸  Thesis Ch. 4 &amp; 5</a:t>
            </a:r>
          </a:p>
          <a:p>
            <a:r>
              <a:rPr sz="1200">
                <a:solidFill>
                  <a:srgbClr val="D0ECF8"/>
                </a:solidFill>
              </a:rPr>
              <a:t>▸  Full evaluation</a:t>
            </a:r>
          </a:p>
          <a:p>
            <a:r>
              <a:rPr sz="1200">
                <a:solidFill>
                  <a:srgbClr val="D0ECF8"/>
                </a:solidFill>
              </a:rPr>
              <a:t>▸  Submit conference paper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4663440"/>
            <a:ext cx="8595360" cy="64008"/>
          </a:xfrm>
          <a:prstGeom prst="rect">
            <a:avLst/>
          </a:prstGeom>
          <a:solidFill>
            <a:srgbClr val="00B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4320" y="4800600"/>
            <a:ext cx="8595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9AABB"/>
                </a:solidFill>
              </a:rPr>
              <a:t>Target journals: IEEE Trans. Dependable &amp; Secure Computing  ·  Computers &amp; Security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5349240"/>
            <a:ext cx="8595360" cy="1234440"/>
          </a:xfrm>
          <a:prstGeom prst="rect">
            <a:avLst/>
          </a:prstGeom>
          <a:solidFill>
            <a:srgbClr val="0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1480" y="53949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BFA5"/>
                </a:solidFill>
              </a:rPr>
              <a:t>YOUR ELEVATOR PITCH — Memorise this: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" y="5760720"/>
            <a:ext cx="8229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"My thesis secures distributed microservices using Moving Target Defense (rotate endpoints in Kubernetes), statistical detection (entropy + CUSUM, no ML), and TLA+ formal verification of Zanzibar/Keto authorization policies — proving no privilege escalation or lateral movement is possible."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